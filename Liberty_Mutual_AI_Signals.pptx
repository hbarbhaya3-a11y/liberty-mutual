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 ·  SIGNAL 1  ·  RENEWAL IMPROVEMENT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at-risk auto renewals before the customer shops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47120" cy="512064"/>
          </a:xfrm>
          <a:prstGeom prst="roundRect">
            <a:avLst>
              <a:gd name="adj" fmla="val 8929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   </a:t>
            </a:r>
            <a:pPr indent="0" marL="0">
              <a:buNone/>
            </a:pPr>
            <a:r>
              <a:rPr lang="en-US" sz="120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retention has fallen 7.1 pts (73.5% → 66.4%). 550,849 high-LTV, claims-free renewals show shopping signals ~30–45 days out — worth $909M NWP / $2.27B CLV.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LOOP  ·  WHAT THE USER WALKS THROUGH 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COCKPIT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signal tile fires in the retail cockpit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550,849 at-risk renewals · $909M NWP at stake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3510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57830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4134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19" name="Text 17"/>
          <p:cNvSpPr/>
          <p:nvPr/>
        </p:nvSpPr>
        <p:spPr>
          <a:xfrm>
            <a:off x="2904134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61334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61334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40710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3105302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“Defend at-risk auto renewals” — elasticity-first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40710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3105302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archetypes: Shopping Renewer + Silent Pre-Shopper act; Sticky-Bundled excluded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84141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58461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4765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29" name="Text 27"/>
          <p:cNvSpPr/>
          <p:nvPr/>
        </p:nvSpPr>
        <p:spPr>
          <a:xfrm>
            <a:off x="5204765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1965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1965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STUDIO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41341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33" name="Text 31"/>
          <p:cNvSpPr/>
          <p:nvPr/>
        </p:nvSpPr>
        <p:spPr>
          <a:xfrm>
            <a:off x="5405933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levers or If-What goal-seek: reprice, offer, holdout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41341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35" name="Text 33"/>
          <p:cNvSpPr/>
          <p:nvPr/>
        </p:nvSpPr>
        <p:spPr>
          <a:xfrm>
            <a:off x="5405933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fair-lending pill vs 0.85 floor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4771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9091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05395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39" name="Text 37"/>
          <p:cNvSpPr/>
          <p:nvPr/>
        </p:nvSpPr>
        <p:spPr>
          <a:xfrm>
            <a:off x="7505395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962595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62595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→ RCT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41971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43" name="Text 41"/>
          <p:cNvSpPr/>
          <p:nvPr/>
        </p:nvSpPr>
        <p:spPr>
          <a:xfrm>
            <a:off x="7706563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MRM · Business Lead sign-off, then compliance gate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41971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45" name="Text 43"/>
          <p:cNvSpPr/>
          <p:nvPr/>
        </p:nvSpPr>
        <p:spPr>
          <a:xfrm>
            <a:off x="7706563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440,679 treatment · 110,170 holdout · auto-rollback armed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85402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59722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06026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49" name="Text 47"/>
          <p:cNvSpPr/>
          <p:nvPr/>
        </p:nvSpPr>
        <p:spPr>
          <a:xfrm>
            <a:off x="9806026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263226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263226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842602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53" name="Text 51"/>
          <p:cNvSpPr/>
          <p:nvPr/>
        </p:nvSpPr>
        <p:spPr>
          <a:xfrm>
            <a:off x="10007194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vs predicted; writeback to the elasticity model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42602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55" name="Text 53"/>
          <p:cNvSpPr/>
          <p:nvPr/>
        </p:nvSpPr>
        <p:spPr>
          <a:xfrm>
            <a:off x="10007194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30% → 11% held across the 8-wk pilot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4480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GUARDRAILS   </a:t>
            </a:r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Rate-elasticity · stickiness (0.70 gate) · shopping-propensity · fair-lending margin under NAIC Model Bulletin 24-08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828032"/>
            <a:ext cx="1124712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937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SIMULATED, THEN MEASURED IN PILOT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$138.2M</a:t>
            </a:r>
            <a:pPr algn="ctr" indent="0" marL="0">
              <a:buNone/>
            </a:pP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548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NWP per year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8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−19</a:t>
            </a:r>
            <a:pPr algn="ctr" indent="0" marL="0">
              <a:buNone/>
            </a:pPr>
            <a:r>
              <a:rPr lang="en-US" sz="12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pts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2834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 reduction (30% → 11%)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4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pPr algn="ctr" indent="0" marL="0">
              <a:buNone/>
            </a:pP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5120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Fair-lending margin vs 0.85 floor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406640" y="4937760"/>
            <a:ext cx="4297680" cy="1298448"/>
          </a:xfrm>
          <a:prstGeom prst="roundRect">
            <a:avLst>
              <a:gd name="adj" fmla="val 4225"/>
            </a:avLst>
          </a:prstGeom>
          <a:solidFill>
            <a:srgbClr val="12315B"/>
          </a:solidFill>
          <a:ln/>
        </p:spPr>
      </p:sp>
      <p:sp>
        <p:nvSpPr>
          <p:cNvPr id="69" name="Text 67"/>
          <p:cNvSpPr/>
          <p:nvPr/>
        </p:nvSpPr>
        <p:spPr>
          <a:xfrm>
            <a:off x="7662672" y="5084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B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 TO ACT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662672" y="53766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Sticky-Bundled archetype — deeply bundled, auto-pay, 8-yr tenure, 0.77 stickiness — gets NO discount. Repricing the operationally loyal is margin given away and a fair-lending basis failure.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 Mutual · TwinX Decision Cockpit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87552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 ·  SIGNAL 2  ·  UNDERWRITING OF THE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the growing small-commercial account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47120" cy="512064"/>
          </a:xfrm>
          <a:prstGeom prst="roundRect">
            <a:avLst>
              <a:gd name="adj" fmla="val 8929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   </a:t>
            </a:r>
            <a:pPr indent="0" marL="0">
              <a:buNone/>
            </a:pPr>
            <a:r>
              <a:rPr lang="en-US" sz="1200" i="1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38,400 small businesses are entering expansion — and 61% are placing the new / expanded coverage off-us with insurtechs (Next · Hiscox · biBERK): ~$2.1B of premium leaving.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LOOP  ·  WHAT THE USER WALKS THROUGH ON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0704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COCKPIT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Small-commercial growth signal fires in the commercial cockpit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38,400 growing accounts · $2.1B premium off-us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83510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57830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4134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19" name="Text 17"/>
          <p:cNvSpPr/>
          <p:nvPr/>
        </p:nvSpPr>
        <p:spPr>
          <a:xfrm>
            <a:off x="2904134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61334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61334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40710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23" name="Text 21"/>
          <p:cNvSpPr/>
          <p:nvPr/>
        </p:nvSpPr>
        <p:spPr>
          <a:xfrm>
            <a:off x="3105302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“Win back the growing account” — precision underwriting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40710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25" name="Text 23"/>
          <p:cNvSpPr/>
          <p:nvPr/>
        </p:nvSpPr>
        <p:spPr>
          <a:xfrm>
            <a:off x="3105302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Drivers: off-us placement, payroll, new site, fleet, revenue surge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84141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58461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4765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29" name="Text 27"/>
          <p:cNvSpPr/>
          <p:nvPr/>
        </p:nvSpPr>
        <p:spPr>
          <a:xfrm>
            <a:off x="5204765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1965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1965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STUDIO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41341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33" name="Text 31"/>
          <p:cNvSpPr/>
          <p:nvPr/>
        </p:nvSpPr>
        <p:spPr>
          <a:xfrm>
            <a:off x="5405933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Levers: lead line, rate-discount ceiling, bundle, channel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41341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35" name="Text 33"/>
          <p:cNvSpPr/>
          <p:nvPr/>
        </p:nvSpPr>
        <p:spPr>
          <a:xfrm>
            <a:off x="5405933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rate-adequacy floor + loss-ratio limit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4771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9091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05395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39" name="Text 37"/>
          <p:cNvSpPr/>
          <p:nvPr/>
        </p:nvSpPr>
        <p:spPr>
          <a:xfrm>
            <a:off x="7505395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962595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62595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→ RCT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41971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43" name="Text 41"/>
          <p:cNvSpPr/>
          <p:nvPr/>
        </p:nvSpPr>
        <p:spPr>
          <a:xfrm>
            <a:off x="7706563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· Actuarial sign-off, then compliance gate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41971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45" name="Text 43"/>
          <p:cNvSpPr/>
          <p:nvPr/>
        </p:nvSpPr>
        <p:spPr>
          <a:xfrm>
            <a:off x="7706563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34,560 treatment · 3,840 holdout (90 / 10)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85402" y="3172968"/>
            <a:ext cx="292608" cy="256032"/>
          </a:xfrm>
          <a:prstGeom prst="chevron">
            <a:avLst/>
          </a:prstGeom>
          <a:solidFill>
            <a:srgbClr val="DCE7F5"/>
          </a:solidFill>
          <a:ln w="12700">
            <a:solidFill>
              <a:srgbClr val="2E6F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59722" y="2249424"/>
            <a:ext cx="2044598" cy="210312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06026" y="23957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315B"/>
          </a:solidFill>
          <a:ln/>
        </p:spPr>
      </p:sp>
      <p:sp>
        <p:nvSpPr>
          <p:cNvPr id="49" name="Text 47"/>
          <p:cNvSpPr/>
          <p:nvPr/>
        </p:nvSpPr>
        <p:spPr>
          <a:xfrm>
            <a:off x="9806026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263226" y="2377440"/>
            <a:ext cx="13130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263226" y="2633472"/>
            <a:ext cx="13313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842602" y="3127248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53" name="Text 51"/>
          <p:cNvSpPr/>
          <p:nvPr/>
        </p:nvSpPr>
        <p:spPr>
          <a:xfrm>
            <a:off x="10007194" y="3044952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realised vs predicted; writeback to appetite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42602" y="3730752"/>
            <a:ext cx="73152" cy="73152"/>
          </a:xfrm>
          <a:prstGeom prst="rect">
            <a:avLst/>
          </a:prstGeom>
          <a:solidFill>
            <a:srgbClr val="2E6FB5"/>
          </a:solidFill>
          <a:ln/>
        </p:spPr>
      </p:sp>
      <p:sp>
        <p:nvSpPr>
          <p:cNvPr id="55" name="Text 53"/>
          <p:cNvSpPr/>
          <p:nvPr/>
        </p:nvSpPr>
        <p:spPr>
          <a:xfrm>
            <a:off x="10007194" y="3648456"/>
            <a:ext cx="15325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lift held; loss ratio inside the limit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4480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GUARDRAILS   </a:t>
            </a:r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 submission + loss data · elasticity-aware pricing · rate-adequacy floor · loss-ratio limit · pricing-consistency (NAIC 24-08)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828032"/>
            <a:ext cx="1124712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937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SIMULATED, THEN MEASURED IN PILOT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8.4→19.1</a:t>
            </a:r>
            <a:pPr algn="ctr" indent="0" marL="0">
              <a:buNone/>
            </a:pPr>
            <a:r>
              <a:rPr lang="en-US" sz="12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548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Quote-to-bind conversion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88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+$31M</a:t>
            </a:r>
            <a:pPr algn="ctr" indent="0" marL="0">
              <a:buNone/>
            </a:pP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2834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Yr-1 NWP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0" y="5230368"/>
            <a:ext cx="2103120" cy="1152144"/>
          </a:xfrm>
          <a:prstGeom prst="roundRect">
            <a:avLst>
              <a:gd name="adj" fmla="val 4762"/>
            </a:avLst>
          </a:prstGeom>
          <a:solidFill>
            <a:srgbClr val="EAF1FA"/>
          </a:solidFill>
          <a:ln w="12700">
            <a:solidFill>
              <a:srgbClr val="D3DC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4920" y="53400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3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</a:t>
            </a:r>
            <a:pPr algn="ctr" indent="0" marL="0">
              <a:buNone/>
            </a:pP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5120640" y="58155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per account (cross-line)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406640" y="4937760"/>
            <a:ext cx="4297680" cy="1298448"/>
          </a:xfrm>
          <a:prstGeom prst="roundRect">
            <a:avLst>
              <a:gd name="adj" fmla="val 4225"/>
            </a:avLst>
          </a:prstGeom>
          <a:solidFill>
            <a:srgbClr val="12315B"/>
          </a:solidFill>
          <a:ln/>
        </p:spPr>
      </p:sp>
      <p:sp>
        <p:nvSpPr>
          <p:cNvPr id="69" name="Text 67"/>
          <p:cNvSpPr/>
          <p:nvPr/>
        </p:nvSpPr>
        <p:spPr>
          <a:xfrm>
            <a:off x="7662672" y="5084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B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NOT TO ACT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662672" y="53766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/ Hold segment — ~2,900 accounts with an adverse loss trend and thin rate adequacy — gets NO quote. Writing it would buy conversion below adequacy and re-open the loss-ratio problem.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 Mutual · TwinX Decision Cockpit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87552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Liberty Mutual</dc:creator>
  <cp:lastModifiedBy>Liberty Mutual</cp:lastModifiedBy>
  <cp:revision>1</cp:revision>
  <dcterms:created xsi:type="dcterms:W3CDTF">2026-08-12T13:26:15Z</dcterms:created>
  <dcterms:modified xsi:type="dcterms:W3CDTF">2026-08-12T13:26:15Z</dcterms:modified>
</cp:coreProperties>
</file>