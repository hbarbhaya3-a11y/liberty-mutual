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 ·  SIGNAL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A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Renewal Improvement: turning at-risk policies into retained premium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daily churn signal flags renewal risk 60–90 days out and drives the right retention action on the policies where it changes the outcome.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57200" y="17556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JOURNEY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84832"/>
            <a:ext cx="2044598" cy="228600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" y="22311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8" name="Text 6"/>
          <p:cNvSpPr/>
          <p:nvPr/>
        </p:nvSpPr>
        <p:spPr>
          <a:xfrm>
            <a:off x="603504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60704" y="2212848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&amp; data capture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008376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2926080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the 90-day renewal window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3529584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Tenure, price, claims &amp; competitor rates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483510" y="3099816"/>
            <a:ext cx="292608" cy="256032"/>
          </a:xfrm>
          <a:prstGeom prst="chevron">
            <a:avLst/>
          </a:prstGeom>
          <a:solidFill>
            <a:srgbClr val="DCE7F5"/>
          </a:solidFill>
          <a:ln w="12700">
            <a:solidFill>
              <a:srgbClr val="2E6F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57830" y="2084832"/>
            <a:ext cx="2044598" cy="228600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04134" y="22311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17" name="Text 15"/>
          <p:cNvSpPr/>
          <p:nvPr/>
        </p:nvSpPr>
        <p:spPr>
          <a:xfrm>
            <a:off x="2904134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361334" y="2212848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risk scoring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940710" y="3008376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20" name="Text 18"/>
          <p:cNvSpPr/>
          <p:nvPr/>
        </p:nvSpPr>
        <p:spPr>
          <a:xfrm>
            <a:off x="3105302" y="2926080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lapse-propensity score, 0–100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940710" y="3611880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22" name="Text 20"/>
          <p:cNvSpPr/>
          <p:nvPr/>
        </p:nvSpPr>
        <p:spPr>
          <a:xfrm>
            <a:off x="3105302" y="3529584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sensitivity, life-events, engagement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84141" y="3099816"/>
            <a:ext cx="292608" cy="256032"/>
          </a:xfrm>
          <a:prstGeom prst="chevron">
            <a:avLst/>
          </a:prstGeom>
          <a:solidFill>
            <a:srgbClr val="DCE7F5"/>
          </a:solidFill>
          <a:ln w="12700">
            <a:solidFill>
              <a:srgbClr val="2E6F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58461" y="2084832"/>
            <a:ext cx="2044598" cy="228600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04765" y="22311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26" name="Text 24"/>
          <p:cNvSpPr/>
          <p:nvPr/>
        </p:nvSpPr>
        <p:spPr>
          <a:xfrm>
            <a:off x="5204765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661965" y="2212848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the movable middle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241341" y="3008376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29" name="Text 27"/>
          <p:cNvSpPr/>
          <p:nvPr/>
        </p:nvSpPr>
        <p:spPr>
          <a:xfrm>
            <a:off x="5405933" y="2926080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value × movability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41341" y="3611880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31" name="Text 29"/>
          <p:cNvSpPr/>
          <p:nvPr/>
        </p:nvSpPr>
        <p:spPr>
          <a:xfrm>
            <a:off x="5405933" y="3529584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the high-premium middle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084771" y="3099816"/>
            <a:ext cx="292608" cy="256032"/>
          </a:xfrm>
          <a:prstGeom prst="chevron">
            <a:avLst/>
          </a:prstGeom>
          <a:solidFill>
            <a:srgbClr val="DCE7F5"/>
          </a:solidFill>
          <a:ln w="12700">
            <a:solidFill>
              <a:srgbClr val="2E6F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59091" y="2084832"/>
            <a:ext cx="2044598" cy="228600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05395" y="22311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35" name="Text 33"/>
          <p:cNvSpPr/>
          <p:nvPr/>
        </p:nvSpPr>
        <p:spPr>
          <a:xfrm>
            <a:off x="7505395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962595" y="2212848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action orchestration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541971" y="3008376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38" name="Text 36"/>
          <p:cNvSpPr/>
          <p:nvPr/>
        </p:nvSpPr>
        <p:spPr>
          <a:xfrm>
            <a:off x="7706563" y="2926080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next action: price, bundle or call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541971" y="3611880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40" name="Text 38"/>
          <p:cNvSpPr/>
          <p:nvPr/>
        </p:nvSpPr>
        <p:spPr>
          <a:xfrm>
            <a:off x="7706563" y="3529584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via CRM &amp; channel systems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385402" y="3099816"/>
            <a:ext cx="292608" cy="256032"/>
          </a:xfrm>
          <a:prstGeom prst="chevron">
            <a:avLst/>
          </a:prstGeom>
          <a:solidFill>
            <a:srgbClr val="DCE7F5"/>
          </a:solidFill>
          <a:ln w="12700">
            <a:solidFill>
              <a:srgbClr val="2E6FB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659722" y="2084832"/>
            <a:ext cx="2044598" cy="228600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806026" y="22311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44" name="Text 42"/>
          <p:cNvSpPr/>
          <p:nvPr/>
        </p:nvSpPr>
        <p:spPr>
          <a:xfrm>
            <a:off x="9806026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0263226" y="2212848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&amp; learn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9842602" y="3008376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47" name="Text 45"/>
          <p:cNvSpPr/>
          <p:nvPr/>
        </p:nvSpPr>
        <p:spPr>
          <a:xfrm>
            <a:off x="10007194" y="2926080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measured vs. a holdout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842602" y="3611880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49" name="Text 47"/>
          <p:cNvSpPr/>
          <p:nvPr/>
        </p:nvSpPr>
        <p:spPr>
          <a:xfrm>
            <a:off x="10007194" y="3529584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retrain the model weekly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57200" y="449884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ENABLING DATA &amp; SYSTEMS   </a:t>
            </a:r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admin · Claims history · CRM &amp; agency · Pricing engine · Competitor rate feed · Marketing automation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57200" y="4864608"/>
            <a:ext cx="11247120" cy="0"/>
          </a:xfrm>
          <a:prstGeom prst="line">
            <a:avLst/>
          </a:prstGeom>
          <a:noFill/>
          <a:ln w="12700">
            <a:solidFill>
              <a:srgbClr val="D3DCE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9743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VALUE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57200" y="5285232"/>
            <a:ext cx="2103120" cy="1188720"/>
          </a:xfrm>
          <a:prstGeom prst="roundRect">
            <a:avLst>
              <a:gd name="adj" fmla="val 4615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2920" y="540410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3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</a:t>
            </a:r>
            <a:pPr algn="ctr" indent="0" marL="0">
              <a:buNone/>
            </a:pPr>
            <a:r>
              <a:rPr lang="en-US" sz="13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pts</a:t>
            </a:r>
            <a:endParaRPr lang="en-US" sz="2600" dirty="0"/>
          </a:p>
        </p:txBody>
      </p:sp>
      <p:sp>
        <p:nvSpPr>
          <p:cNvPr id="55" name="Text 53"/>
          <p:cNvSpPr/>
          <p:nvPr/>
        </p:nvSpPr>
        <p:spPr>
          <a:xfrm>
            <a:off x="548640" y="590702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Retention-rate lift on targeted segments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743200" y="5285232"/>
            <a:ext cx="2103120" cy="1188720"/>
          </a:xfrm>
          <a:prstGeom prst="roundRect">
            <a:avLst>
              <a:gd name="adj" fmla="val 4615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788920" y="540410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3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8:1</a:t>
            </a:r>
            <a:pPr algn="ctr" indent="0" marL="0">
              <a:buNone/>
            </a:pPr>
            <a:endParaRPr lang="en-US" sz="2600" dirty="0"/>
          </a:p>
        </p:txBody>
      </p:sp>
      <p:sp>
        <p:nvSpPr>
          <p:cNvPr id="58" name="Text 56"/>
          <p:cNvSpPr/>
          <p:nvPr/>
        </p:nvSpPr>
        <p:spPr>
          <a:xfrm>
            <a:off x="2834640" y="590702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vs. untargeted outreach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029200" y="5285232"/>
            <a:ext cx="2103120" cy="1188720"/>
          </a:xfrm>
          <a:prstGeom prst="roundRect">
            <a:avLst>
              <a:gd name="adj" fmla="val 4615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74920" y="540410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3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60–90</a:t>
            </a:r>
            <a:pPr algn="ctr" indent="0" marL="0">
              <a:buNone/>
            </a:pPr>
            <a:r>
              <a:rPr lang="en-US" sz="13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600" dirty="0"/>
          </a:p>
        </p:txBody>
      </p:sp>
      <p:sp>
        <p:nvSpPr>
          <p:cNvPr id="61" name="Text 59"/>
          <p:cNvSpPr/>
          <p:nvPr/>
        </p:nvSpPr>
        <p:spPr>
          <a:xfrm>
            <a:off x="5120640" y="590702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before renewal date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7406640" y="4974336"/>
            <a:ext cx="4297680" cy="1298448"/>
          </a:xfrm>
          <a:prstGeom prst="roundRect">
            <a:avLst>
              <a:gd name="adj" fmla="val 4225"/>
            </a:avLst>
          </a:prstGeom>
          <a:solidFill>
            <a:srgbClr val="12315B"/>
          </a:solidFill>
          <a:ln/>
        </p:spPr>
      </p:sp>
      <p:sp>
        <p:nvSpPr>
          <p:cNvPr id="63" name="Text 61"/>
          <p:cNvSpPr/>
          <p:nvPr/>
        </p:nvSpPr>
        <p:spPr>
          <a:xfrm>
            <a:off x="7662672" y="51206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DB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FEEDBACK LOOP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7662672" y="5431536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renew / lapse result flows back into training, so targeting and offer economics sharpen with each renewal cycle.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457200" y="6419088"/>
            <a:ext cx="11247120" cy="0"/>
          </a:xfrm>
          <a:prstGeom prst="line">
            <a:avLst/>
          </a:prstGeom>
          <a:noFill/>
          <a:ln w="12700">
            <a:solidFill>
              <a:srgbClr val="D3DCE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Liberty Mutual  |  AI Signal Portfolio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987552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 ·  SIGNAL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A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Underwriting of the Future: augmenting the underwriter, not replacing judgment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structures the submission, enriches the risk and pre-fills the decision — underwriters spend their time on the accounts that need a human.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57200" y="17556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JOURNEY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84832"/>
            <a:ext cx="2044598" cy="228600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" y="22311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8" name="Text 6"/>
          <p:cNvSpPr/>
          <p:nvPr/>
        </p:nvSpPr>
        <p:spPr>
          <a:xfrm>
            <a:off x="603504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60704" y="2212848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intake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008376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2926080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 in the UW workbench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3529584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ACORD, loss runs &amp; financials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483510" y="3099816"/>
            <a:ext cx="292608" cy="256032"/>
          </a:xfrm>
          <a:prstGeom prst="chevron">
            <a:avLst/>
          </a:prstGeom>
          <a:solidFill>
            <a:srgbClr val="DCE7F5"/>
          </a:solidFill>
          <a:ln w="12700">
            <a:solidFill>
              <a:srgbClr val="2E6F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57830" y="2084832"/>
            <a:ext cx="2044598" cy="228600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04134" y="22311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17" name="Text 15"/>
          <p:cNvSpPr/>
          <p:nvPr/>
        </p:nvSpPr>
        <p:spPr>
          <a:xfrm>
            <a:off x="2904134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361334" y="2212848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enrichment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940710" y="3008376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20" name="Text 18"/>
          <p:cNvSpPr/>
          <p:nvPr/>
        </p:nvSpPr>
        <p:spPr>
          <a:xfrm>
            <a:off x="3105302" y="2926080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Appends property, firmographic &amp; cat data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940710" y="3611880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22" name="Text 20"/>
          <p:cNvSpPr/>
          <p:nvPr/>
        </p:nvSpPr>
        <p:spPr>
          <a:xfrm>
            <a:off x="3105302" y="3529584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Rebuilds exposure &amp; prior-loss view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84141" y="3099816"/>
            <a:ext cx="292608" cy="256032"/>
          </a:xfrm>
          <a:prstGeom prst="chevron">
            <a:avLst/>
          </a:prstGeom>
          <a:solidFill>
            <a:srgbClr val="DCE7F5"/>
          </a:solidFill>
          <a:ln w="12700">
            <a:solidFill>
              <a:srgbClr val="2E6F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58461" y="2084832"/>
            <a:ext cx="2044598" cy="228600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04765" y="22311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26" name="Text 24"/>
          <p:cNvSpPr/>
          <p:nvPr/>
        </p:nvSpPr>
        <p:spPr>
          <a:xfrm>
            <a:off x="5204765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661965" y="2212848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appetite check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241341" y="3008376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29" name="Text 27"/>
          <p:cNvSpPr/>
          <p:nvPr/>
        </p:nvSpPr>
        <p:spPr>
          <a:xfrm>
            <a:off x="5405933" y="2926080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appetite-fit scoring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41341" y="3611880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31" name="Text 29"/>
          <p:cNvSpPr/>
          <p:nvPr/>
        </p:nvSpPr>
        <p:spPr>
          <a:xfrm>
            <a:off x="5405933" y="3529584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Auto-declines misfits, speeds clean risks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084771" y="3099816"/>
            <a:ext cx="292608" cy="256032"/>
          </a:xfrm>
          <a:prstGeom prst="chevron">
            <a:avLst/>
          </a:prstGeom>
          <a:solidFill>
            <a:srgbClr val="DCE7F5"/>
          </a:solidFill>
          <a:ln w="12700">
            <a:solidFill>
              <a:srgbClr val="2E6F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59091" y="2084832"/>
            <a:ext cx="2044598" cy="228600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05395" y="22311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35" name="Text 33"/>
          <p:cNvSpPr/>
          <p:nvPr/>
        </p:nvSpPr>
        <p:spPr>
          <a:xfrm>
            <a:off x="7505395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962595" y="2212848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&amp; recommendation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541971" y="3008376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38" name="Text 36"/>
          <p:cNvSpPr/>
          <p:nvPr/>
        </p:nvSpPr>
        <p:spPr>
          <a:xfrm>
            <a:off x="7706563" y="2926080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Model-suggested price &amp; terms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541971" y="3611880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40" name="Text 38"/>
          <p:cNvSpPr/>
          <p:nvPr/>
        </p:nvSpPr>
        <p:spPr>
          <a:xfrm>
            <a:off x="7706563" y="3529584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rationale and risk flags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385402" y="3099816"/>
            <a:ext cx="292608" cy="256032"/>
          </a:xfrm>
          <a:prstGeom prst="chevron">
            <a:avLst/>
          </a:prstGeom>
          <a:solidFill>
            <a:srgbClr val="DCE7F5"/>
          </a:solidFill>
          <a:ln w="12700">
            <a:solidFill>
              <a:srgbClr val="2E6FB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659722" y="2084832"/>
            <a:ext cx="2044598" cy="2286000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806026" y="22311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315B"/>
          </a:solidFill>
          <a:ln/>
        </p:spPr>
      </p:sp>
      <p:sp>
        <p:nvSpPr>
          <p:cNvPr id="44" name="Text 42"/>
          <p:cNvSpPr/>
          <p:nvPr/>
        </p:nvSpPr>
        <p:spPr>
          <a:xfrm>
            <a:off x="9806026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0263226" y="2212848"/>
            <a:ext cx="13130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decision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9842602" y="3008376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47" name="Text 45"/>
          <p:cNvSpPr/>
          <p:nvPr/>
        </p:nvSpPr>
        <p:spPr>
          <a:xfrm>
            <a:off x="10007194" y="2926080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the decision-ready package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842602" y="3611880"/>
            <a:ext cx="73152" cy="73152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49" name="Text 47"/>
          <p:cNvSpPr/>
          <p:nvPr/>
        </p:nvSpPr>
        <p:spPr>
          <a:xfrm>
            <a:off x="10007194" y="3529584"/>
            <a:ext cx="15325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complex risks, binds &amp; documents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57200" y="449884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ENABLING DATA &amp; SYSTEMS   </a:t>
            </a:r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 workbench · Document AI · Third-party data vendors · Catastrophe models · Rating engine · Policy admin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57200" y="4864608"/>
            <a:ext cx="11247120" cy="0"/>
          </a:xfrm>
          <a:prstGeom prst="line">
            <a:avLst/>
          </a:prstGeom>
          <a:noFill/>
          <a:ln w="12700">
            <a:solidFill>
              <a:srgbClr val="D3DCE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9743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VALUE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57200" y="5285232"/>
            <a:ext cx="2103120" cy="1188720"/>
          </a:xfrm>
          <a:prstGeom prst="roundRect">
            <a:avLst>
              <a:gd name="adj" fmla="val 4615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2920" y="540410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3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algn="ctr" indent="0" marL="0">
              <a:buNone/>
            </a:pPr>
            <a:r>
              <a:rPr lang="en-US" sz="13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2600" dirty="0"/>
          </a:p>
        </p:txBody>
      </p:sp>
      <p:sp>
        <p:nvSpPr>
          <p:cNvPr id="55" name="Text 53"/>
          <p:cNvSpPr/>
          <p:nvPr/>
        </p:nvSpPr>
        <p:spPr>
          <a:xfrm>
            <a:off x="548640" y="590702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quote turnaround on in-appetite risks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743200" y="5285232"/>
            <a:ext cx="2103120" cy="1188720"/>
          </a:xfrm>
          <a:prstGeom prst="roundRect">
            <a:avLst>
              <a:gd name="adj" fmla="val 4615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788920" y="540410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3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pPr algn="ctr" indent="0" marL="0">
              <a:buNone/>
            </a:pPr>
            <a:r>
              <a:rPr lang="en-US" sz="13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2600" dirty="0"/>
          </a:p>
        </p:txBody>
      </p:sp>
      <p:sp>
        <p:nvSpPr>
          <p:cNvPr id="58" name="Text 56"/>
          <p:cNvSpPr/>
          <p:nvPr/>
        </p:nvSpPr>
        <p:spPr>
          <a:xfrm>
            <a:off x="2834640" y="590702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Straight-through triage on clean submissions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029200" y="5285232"/>
            <a:ext cx="2103120" cy="1188720"/>
          </a:xfrm>
          <a:prstGeom prst="roundRect">
            <a:avLst>
              <a:gd name="adj" fmla="val 4615"/>
            </a:avLst>
          </a:prstGeom>
          <a:solidFill>
            <a:srgbClr val="EAF1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74920" y="540410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3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2–3</a:t>
            </a:r>
            <a:pPr algn="ctr" indent="0" marL="0">
              <a:buNone/>
            </a:pPr>
            <a:r>
              <a:rPr lang="en-US" sz="13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pts</a:t>
            </a:r>
            <a:endParaRPr lang="en-US" sz="2600" dirty="0"/>
          </a:p>
        </p:txBody>
      </p:sp>
      <p:sp>
        <p:nvSpPr>
          <p:cNvPr id="61" name="Text 59"/>
          <p:cNvSpPr/>
          <p:nvPr/>
        </p:nvSpPr>
        <p:spPr>
          <a:xfrm>
            <a:off x="5120640" y="590702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Loss-ratio gain from sharper selection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7406640" y="4974336"/>
            <a:ext cx="4297680" cy="1298448"/>
          </a:xfrm>
          <a:prstGeom prst="roundRect">
            <a:avLst>
              <a:gd name="adj" fmla="val 4225"/>
            </a:avLst>
          </a:prstGeom>
          <a:solidFill>
            <a:srgbClr val="12315B"/>
          </a:solidFill>
          <a:ln/>
        </p:spPr>
      </p:sp>
      <p:sp>
        <p:nvSpPr>
          <p:cNvPr id="63" name="Text 61"/>
          <p:cNvSpPr/>
          <p:nvPr/>
        </p:nvSpPr>
        <p:spPr>
          <a:xfrm>
            <a:off x="7662672" y="51206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DB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FEEDBACK LOOP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7662672" y="5431536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Bound-account outcomes and emerging losses retrain the appetite and pricing models, compounding into a durable underwriting edge.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457200" y="6419088"/>
            <a:ext cx="11247120" cy="0"/>
          </a:xfrm>
          <a:prstGeom prst="line">
            <a:avLst/>
          </a:prstGeom>
          <a:noFill/>
          <a:ln w="12700">
            <a:solidFill>
              <a:srgbClr val="D3DCE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Liberty Mutual  |  AI Signal Portfolio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9875520" y="6473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23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Liberty Mutual</dc:creator>
  <cp:lastModifiedBy>Liberty Mutual</cp:lastModifiedBy>
  <cp:revision>1</cp:revision>
  <dcterms:created xsi:type="dcterms:W3CDTF">2026-08-12T13:11:39Z</dcterms:created>
  <dcterms:modified xsi:type="dcterms:W3CDTF">2026-08-12T13:11:39Z</dcterms:modified>
</cp:coreProperties>
</file>