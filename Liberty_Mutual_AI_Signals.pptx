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 ·  SIGNAL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A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Renewal Improvement: a churn signal that protects premium before customers walk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11247120" cy="512064"/>
          </a:xfrm>
          <a:prstGeom prst="roundRect">
            <a:avLst>
              <a:gd name="adj" fmla="val 8929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98448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    </a:t>
            </a:r>
            <a:pPr indent="0" marL="0">
              <a:buNone/>
            </a:pPr>
            <a:r>
              <a:rPr lang="en-US" sz="1250" i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lapses are predictable and preventable — yet retention effort is spread evenly, spent late, and aimed at the wrong policies.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938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SIGNAL RESPONDS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249424"/>
            <a:ext cx="2044598" cy="210312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23957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9" name="Text 7"/>
          <p:cNvSpPr/>
          <p:nvPr/>
        </p:nvSpPr>
        <p:spPr>
          <a:xfrm>
            <a:off x="603504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60704" y="2377440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&amp; data capture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090672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the 90-day renewal window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3758184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3675888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Tenure, price, claims &amp; competitor rates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483510" y="3172968"/>
            <a:ext cx="292608" cy="256032"/>
          </a:xfrm>
          <a:prstGeom prst="chevron">
            <a:avLst/>
          </a:prstGeom>
          <a:solidFill>
            <a:srgbClr val="DCE7F5"/>
          </a:solidFill>
          <a:ln w="12700">
            <a:solidFill>
              <a:srgbClr val="2E6F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57830" y="2249424"/>
            <a:ext cx="2044598" cy="210312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04134" y="23957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18" name="Text 16"/>
          <p:cNvSpPr/>
          <p:nvPr/>
        </p:nvSpPr>
        <p:spPr>
          <a:xfrm>
            <a:off x="2904134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61334" y="2377440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risk scoring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940710" y="3172968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21" name="Text 19"/>
          <p:cNvSpPr/>
          <p:nvPr/>
        </p:nvSpPr>
        <p:spPr>
          <a:xfrm>
            <a:off x="3105302" y="3090672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lapse-propensity score, 0–100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940710" y="3758184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23" name="Text 21"/>
          <p:cNvSpPr/>
          <p:nvPr/>
        </p:nvSpPr>
        <p:spPr>
          <a:xfrm>
            <a:off x="3105302" y="3675888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sensitivity, life-events, engagement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84141" y="3172968"/>
            <a:ext cx="292608" cy="256032"/>
          </a:xfrm>
          <a:prstGeom prst="chevron">
            <a:avLst/>
          </a:prstGeom>
          <a:solidFill>
            <a:srgbClr val="DCE7F5"/>
          </a:solidFill>
          <a:ln w="12700">
            <a:solidFill>
              <a:srgbClr val="2E6F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8461" y="2249424"/>
            <a:ext cx="2044598" cy="210312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04765" y="23957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27" name="Text 25"/>
          <p:cNvSpPr/>
          <p:nvPr/>
        </p:nvSpPr>
        <p:spPr>
          <a:xfrm>
            <a:off x="5204765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61965" y="2377440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the movable middle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241341" y="3172968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30" name="Text 28"/>
          <p:cNvSpPr/>
          <p:nvPr/>
        </p:nvSpPr>
        <p:spPr>
          <a:xfrm>
            <a:off x="5405933" y="3090672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value × movability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241341" y="3758184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32" name="Text 30"/>
          <p:cNvSpPr/>
          <p:nvPr/>
        </p:nvSpPr>
        <p:spPr>
          <a:xfrm>
            <a:off x="5405933" y="3675888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the high-premium middle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084771" y="3172968"/>
            <a:ext cx="292608" cy="256032"/>
          </a:xfrm>
          <a:prstGeom prst="chevron">
            <a:avLst/>
          </a:prstGeom>
          <a:solidFill>
            <a:srgbClr val="DCE7F5"/>
          </a:solidFill>
          <a:ln w="12700">
            <a:solidFill>
              <a:srgbClr val="2E6F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59091" y="2249424"/>
            <a:ext cx="2044598" cy="210312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505395" y="23957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36" name="Text 34"/>
          <p:cNvSpPr/>
          <p:nvPr/>
        </p:nvSpPr>
        <p:spPr>
          <a:xfrm>
            <a:off x="7505395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962595" y="2377440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action orchestration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7541971" y="3172968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39" name="Text 37"/>
          <p:cNvSpPr/>
          <p:nvPr/>
        </p:nvSpPr>
        <p:spPr>
          <a:xfrm>
            <a:off x="7706563" y="3090672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next action: price, bundle or call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541971" y="3758184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41" name="Text 39"/>
          <p:cNvSpPr/>
          <p:nvPr/>
        </p:nvSpPr>
        <p:spPr>
          <a:xfrm>
            <a:off x="7706563" y="3675888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via CRM &amp; channel systems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385402" y="3172968"/>
            <a:ext cx="292608" cy="256032"/>
          </a:xfrm>
          <a:prstGeom prst="chevron">
            <a:avLst/>
          </a:prstGeom>
          <a:solidFill>
            <a:srgbClr val="DCE7F5"/>
          </a:solidFill>
          <a:ln w="12700">
            <a:solidFill>
              <a:srgbClr val="2E6F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59722" y="2249424"/>
            <a:ext cx="2044598" cy="210312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06026" y="23957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45" name="Text 43"/>
          <p:cNvSpPr/>
          <p:nvPr/>
        </p:nvSpPr>
        <p:spPr>
          <a:xfrm>
            <a:off x="9806026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263226" y="2377440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&amp; learn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9842602" y="3172968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48" name="Text 46"/>
          <p:cNvSpPr/>
          <p:nvPr/>
        </p:nvSpPr>
        <p:spPr>
          <a:xfrm>
            <a:off x="10007194" y="3090672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measured vs. a holdout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9842602" y="3758184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50" name="Text 48"/>
          <p:cNvSpPr/>
          <p:nvPr/>
        </p:nvSpPr>
        <p:spPr>
          <a:xfrm>
            <a:off x="10007194" y="3675888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retrain the model weekly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57200" y="44805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ENABLING DATA &amp; SYSTEMS   </a:t>
            </a:r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admin · Claims history · CRM &amp; agency · Pricing engine · Competitor rate feed · Marketing automation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4828032"/>
            <a:ext cx="11247120" cy="0"/>
          </a:xfrm>
          <a:prstGeom prst="line">
            <a:avLst/>
          </a:prstGeom>
          <a:noFill/>
          <a:ln w="12700">
            <a:solidFill>
              <a:srgbClr val="D3DC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9377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" y="5230368"/>
            <a:ext cx="2103120" cy="1152144"/>
          </a:xfrm>
          <a:prstGeom prst="roundRect">
            <a:avLst>
              <a:gd name="adj" fmla="val 4762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2920" y="53400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23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</a:t>
            </a:r>
            <a:pPr algn="ctr" indent="0" marL="0">
              <a:buNone/>
            </a:pPr>
            <a:r>
              <a:rPr lang="en-US" sz="13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pts</a:t>
            </a:r>
            <a:endParaRPr lang="en-US" sz="2500" dirty="0"/>
          </a:p>
        </p:txBody>
      </p:sp>
      <p:sp>
        <p:nvSpPr>
          <p:cNvPr id="56" name="Text 54"/>
          <p:cNvSpPr/>
          <p:nvPr/>
        </p:nvSpPr>
        <p:spPr>
          <a:xfrm>
            <a:off x="548640" y="5815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Retention-rate lift on targeted segments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2743200" y="5230368"/>
            <a:ext cx="2103120" cy="1152144"/>
          </a:xfrm>
          <a:prstGeom prst="roundRect">
            <a:avLst>
              <a:gd name="adj" fmla="val 4762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788920" y="53400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23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8:1</a:t>
            </a:r>
            <a:pPr algn="ctr" indent="0" marL="0">
              <a:buNone/>
            </a:pPr>
            <a:endParaRPr lang="en-US" sz="2500" dirty="0"/>
          </a:p>
        </p:txBody>
      </p:sp>
      <p:sp>
        <p:nvSpPr>
          <p:cNvPr id="59" name="Text 57"/>
          <p:cNvSpPr/>
          <p:nvPr/>
        </p:nvSpPr>
        <p:spPr>
          <a:xfrm>
            <a:off x="2834640" y="5815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vs. untargeted outreach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029200" y="5230368"/>
            <a:ext cx="2103120" cy="1152144"/>
          </a:xfrm>
          <a:prstGeom prst="roundRect">
            <a:avLst>
              <a:gd name="adj" fmla="val 4762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74920" y="53400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23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60–90</a:t>
            </a:r>
            <a:pPr algn="ctr" indent="0" marL="0">
              <a:buNone/>
            </a:pPr>
            <a:r>
              <a:rPr lang="en-US" sz="13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500" dirty="0"/>
          </a:p>
        </p:txBody>
      </p:sp>
      <p:sp>
        <p:nvSpPr>
          <p:cNvPr id="62" name="Text 60"/>
          <p:cNvSpPr/>
          <p:nvPr/>
        </p:nvSpPr>
        <p:spPr>
          <a:xfrm>
            <a:off x="5120640" y="5815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before renewal date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406640" y="4937760"/>
            <a:ext cx="4297680" cy="1298448"/>
          </a:xfrm>
          <a:prstGeom prst="roundRect">
            <a:avLst>
              <a:gd name="adj" fmla="val 4225"/>
            </a:avLst>
          </a:prstGeom>
          <a:solidFill>
            <a:srgbClr val="12315B"/>
          </a:solidFill>
          <a:ln/>
        </p:spPr>
      </p:sp>
      <p:sp>
        <p:nvSpPr>
          <p:cNvPr id="64" name="Text 62"/>
          <p:cNvSpPr/>
          <p:nvPr/>
        </p:nvSpPr>
        <p:spPr>
          <a:xfrm>
            <a:off x="7662672" y="50840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DB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ADVANTAGE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662672" y="539496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renew / lapse result flows back into training, so targeting and offer economics sharpen with each renewal cycle.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457200" y="6419088"/>
            <a:ext cx="11247120" cy="0"/>
          </a:xfrm>
          <a:prstGeom prst="line">
            <a:avLst/>
          </a:prstGeom>
          <a:noFill/>
          <a:ln w="12700">
            <a:solidFill>
              <a:srgbClr val="D3DCE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Liberty Mutual  |  AI Signal Portfolio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987552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 ·  SIGNAL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A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Underwriting of the Future: write better risk faster by augmenting the underwriter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11247120" cy="512064"/>
          </a:xfrm>
          <a:prstGeom prst="roundRect">
            <a:avLst>
              <a:gd name="adj" fmla="val 8929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98448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    </a:t>
            </a:r>
            <a:pPr indent="0" marL="0">
              <a:buNone/>
            </a:pPr>
            <a:r>
              <a:rPr lang="en-US" sz="1250" i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intake and inconsistent risk selection slow quotes, drain underwriter capacity, and let mispriced accounts onto the book.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938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SIGNAL RESPONDS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249424"/>
            <a:ext cx="2044598" cy="210312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23957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9" name="Text 7"/>
          <p:cNvSpPr/>
          <p:nvPr/>
        </p:nvSpPr>
        <p:spPr>
          <a:xfrm>
            <a:off x="603504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60704" y="2377440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intake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090672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 in the UW workbench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3758184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3675888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ACORD, loss runs &amp; financials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483510" y="3172968"/>
            <a:ext cx="292608" cy="256032"/>
          </a:xfrm>
          <a:prstGeom prst="chevron">
            <a:avLst/>
          </a:prstGeom>
          <a:solidFill>
            <a:srgbClr val="DCE7F5"/>
          </a:solidFill>
          <a:ln w="12700">
            <a:solidFill>
              <a:srgbClr val="2E6F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57830" y="2249424"/>
            <a:ext cx="2044598" cy="210312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04134" y="23957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18" name="Text 16"/>
          <p:cNvSpPr/>
          <p:nvPr/>
        </p:nvSpPr>
        <p:spPr>
          <a:xfrm>
            <a:off x="2904134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61334" y="2377440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enrichment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940710" y="3172968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21" name="Text 19"/>
          <p:cNvSpPr/>
          <p:nvPr/>
        </p:nvSpPr>
        <p:spPr>
          <a:xfrm>
            <a:off x="3105302" y="3090672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Appends property, firmographic &amp; cat data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940710" y="3758184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23" name="Text 21"/>
          <p:cNvSpPr/>
          <p:nvPr/>
        </p:nvSpPr>
        <p:spPr>
          <a:xfrm>
            <a:off x="3105302" y="3675888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Rebuilds exposure &amp; prior-loss view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84141" y="3172968"/>
            <a:ext cx="292608" cy="256032"/>
          </a:xfrm>
          <a:prstGeom prst="chevron">
            <a:avLst/>
          </a:prstGeom>
          <a:solidFill>
            <a:srgbClr val="DCE7F5"/>
          </a:solidFill>
          <a:ln w="12700">
            <a:solidFill>
              <a:srgbClr val="2E6F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8461" y="2249424"/>
            <a:ext cx="2044598" cy="210312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04765" y="23957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27" name="Text 25"/>
          <p:cNvSpPr/>
          <p:nvPr/>
        </p:nvSpPr>
        <p:spPr>
          <a:xfrm>
            <a:off x="5204765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61965" y="2377440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appetite check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241341" y="3172968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30" name="Text 28"/>
          <p:cNvSpPr/>
          <p:nvPr/>
        </p:nvSpPr>
        <p:spPr>
          <a:xfrm>
            <a:off x="5405933" y="3090672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appetite-fit scoring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241341" y="3758184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32" name="Text 30"/>
          <p:cNvSpPr/>
          <p:nvPr/>
        </p:nvSpPr>
        <p:spPr>
          <a:xfrm>
            <a:off x="5405933" y="3675888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Auto-declines misfits, speeds clean risks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084771" y="3172968"/>
            <a:ext cx="292608" cy="256032"/>
          </a:xfrm>
          <a:prstGeom prst="chevron">
            <a:avLst/>
          </a:prstGeom>
          <a:solidFill>
            <a:srgbClr val="DCE7F5"/>
          </a:solidFill>
          <a:ln w="12700">
            <a:solidFill>
              <a:srgbClr val="2E6F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59091" y="2249424"/>
            <a:ext cx="2044598" cy="210312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505395" y="23957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36" name="Text 34"/>
          <p:cNvSpPr/>
          <p:nvPr/>
        </p:nvSpPr>
        <p:spPr>
          <a:xfrm>
            <a:off x="7505395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962595" y="2377440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&amp; recommendation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7541971" y="3172968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39" name="Text 37"/>
          <p:cNvSpPr/>
          <p:nvPr/>
        </p:nvSpPr>
        <p:spPr>
          <a:xfrm>
            <a:off x="7706563" y="3090672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Model-suggested price &amp; terms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541971" y="3758184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41" name="Text 39"/>
          <p:cNvSpPr/>
          <p:nvPr/>
        </p:nvSpPr>
        <p:spPr>
          <a:xfrm>
            <a:off x="7706563" y="3675888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rationale and risk flags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385402" y="3172968"/>
            <a:ext cx="292608" cy="256032"/>
          </a:xfrm>
          <a:prstGeom prst="chevron">
            <a:avLst/>
          </a:prstGeom>
          <a:solidFill>
            <a:srgbClr val="DCE7F5"/>
          </a:solidFill>
          <a:ln w="12700">
            <a:solidFill>
              <a:srgbClr val="2E6F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59722" y="2249424"/>
            <a:ext cx="2044598" cy="210312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06026" y="23957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45" name="Text 43"/>
          <p:cNvSpPr/>
          <p:nvPr/>
        </p:nvSpPr>
        <p:spPr>
          <a:xfrm>
            <a:off x="9806026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263226" y="2377440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decision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9842602" y="3172968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48" name="Text 46"/>
          <p:cNvSpPr/>
          <p:nvPr/>
        </p:nvSpPr>
        <p:spPr>
          <a:xfrm>
            <a:off x="10007194" y="3090672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the decision-ready package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9842602" y="3758184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50" name="Text 48"/>
          <p:cNvSpPr/>
          <p:nvPr/>
        </p:nvSpPr>
        <p:spPr>
          <a:xfrm>
            <a:off x="10007194" y="3675888"/>
            <a:ext cx="1532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complex risks, binds &amp; documents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57200" y="44805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ENABLING DATA &amp; SYSTEMS   </a:t>
            </a:r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 workbench · Document AI · Third-party data vendors · Catastrophe models · Rating engine · Policy admin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4828032"/>
            <a:ext cx="11247120" cy="0"/>
          </a:xfrm>
          <a:prstGeom prst="line">
            <a:avLst/>
          </a:prstGeom>
          <a:noFill/>
          <a:ln w="12700">
            <a:solidFill>
              <a:srgbClr val="D3DC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9377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" y="5230368"/>
            <a:ext cx="2103120" cy="1152144"/>
          </a:xfrm>
          <a:prstGeom prst="roundRect">
            <a:avLst>
              <a:gd name="adj" fmla="val 4762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2920" y="53400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23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algn="ctr" indent="0" marL="0">
              <a:buNone/>
            </a:pPr>
            <a:r>
              <a:rPr lang="en-US" sz="13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2500" dirty="0"/>
          </a:p>
        </p:txBody>
      </p:sp>
      <p:sp>
        <p:nvSpPr>
          <p:cNvPr id="56" name="Text 54"/>
          <p:cNvSpPr/>
          <p:nvPr/>
        </p:nvSpPr>
        <p:spPr>
          <a:xfrm>
            <a:off x="548640" y="5815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quote turnaround on in-appetite risks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2743200" y="5230368"/>
            <a:ext cx="2103120" cy="1152144"/>
          </a:xfrm>
          <a:prstGeom prst="roundRect">
            <a:avLst>
              <a:gd name="adj" fmla="val 4762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788920" y="53400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23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pPr algn="ctr" indent="0" marL="0">
              <a:buNone/>
            </a:pPr>
            <a:r>
              <a:rPr lang="en-US" sz="13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2500" dirty="0"/>
          </a:p>
        </p:txBody>
      </p:sp>
      <p:sp>
        <p:nvSpPr>
          <p:cNvPr id="59" name="Text 57"/>
          <p:cNvSpPr/>
          <p:nvPr/>
        </p:nvSpPr>
        <p:spPr>
          <a:xfrm>
            <a:off x="2834640" y="5815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Straight-through triage on clean submissions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029200" y="5230368"/>
            <a:ext cx="2103120" cy="1152144"/>
          </a:xfrm>
          <a:prstGeom prst="roundRect">
            <a:avLst>
              <a:gd name="adj" fmla="val 4762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74920" y="53400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23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2–3</a:t>
            </a:r>
            <a:pPr algn="ctr" indent="0" marL="0">
              <a:buNone/>
            </a:pPr>
            <a:r>
              <a:rPr lang="en-US" sz="13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pts</a:t>
            </a:r>
            <a:endParaRPr lang="en-US" sz="2500" dirty="0"/>
          </a:p>
        </p:txBody>
      </p:sp>
      <p:sp>
        <p:nvSpPr>
          <p:cNvPr id="62" name="Text 60"/>
          <p:cNvSpPr/>
          <p:nvPr/>
        </p:nvSpPr>
        <p:spPr>
          <a:xfrm>
            <a:off x="5120640" y="5815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Loss-ratio gain from sharper selection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406640" y="4937760"/>
            <a:ext cx="4297680" cy="1298448"/>
          </a:xfrm>
          <a:prstGeom prst="roundRect">
            <a:avLst>
              <a:gd name="adj" fmla="val 4225"/>
            </a:avLst>
          </a:prstGeom>
          <a:solidFill>
            <a:srgbClr val="12315B"/>
          </a:solidFill>
          <a:ln/>
        </p:spPr>
      </p:sp>
      <p:sp>
        <p:nvSpPr>
          <p:cNvPr id="64" name="Text 62"/>
          <p:cNvSpPr/>
          <p:nvPr/>
        </p:nvSpPr>
        <p:spPr>
          <a:xfrm>
            <a:off x="7662672" y="50840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DB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ADVANTAGE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662672" y="539496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Bound-account outcomes and emerging losses retrain the appetite and pricing models, compounding into a durable underwriting edge.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457200" y="6419088"/>
            <a:ext cx="11247120" cy="0"/>
          </a:xfrm>
          <a:prstGeom prst="line">
            <a:avLst/>
          </a:prstGeom>
          <a:noFill/>
          <a:ln w="12700">
            <a:solidFill>
              <a:srgbClr val="D3DCE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Liberty Mutual  |  AI Signal Portfolio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987552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Liberty Mutual</dc:creator>
  <cp:lastModifiedBy>Liberty Mutual</cp:lastModifiedBy>
  <cp:revision>1</cp:revision>
  <dcterms:created xsi:type="dcterms:W3CDTF">2026-08-12T13:17:27Z</dcterms:created>
  <dcterms:modified xsi:type="dcterms:W3CDTF">2026-08-12T13:17:27Z</dcterms:modified>
</cp:coreProperties>
</file>